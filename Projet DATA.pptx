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Roboto Bold" charset="1" panose="02000000000000000000"/>
      <p:regular r:id="rId18"/>
    </p:embeddedFont>
    <p:embeddedFont>
      <p:font typeface="Poppins" charset="1" panose="00000500000000000000"/>
      <p:regular r:id="rId19"/>
    </p:embeddedFont>
    <p:embeddedFont>
      <p:font typeface="Poppins Bold" charset="1" panose="00000800000000000000"/>
      <p:regular r:id="rId20"/>
    </p:embeddedFont>
    <p:embeddedFont>
      <p:font typeface="Roboto" charset="1" panose="02000000000000000000"/>
      <p:regular r:id="rId21"/>
    </p:embeddedFont>
    <p:embeddedFont>
      <p:font typeface="Poppins Italics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6.png" Type="http://schemas.openxmlformats.org/officeDocument/2006/relationships/image"/><Relationship Id="rId4" Target="../embeddings/oleObject1.bin" Type="http://schemas.openxmlformats.org/officeDocument/2006/relationships/oleObjec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0.png" Type="http://schemas.openxmlformats.org/officeDocument/2006/relationships/image"/><Relationship Id="rId4" Target="../embeddings/oleObject2.bin" Type="http://schemas.openxmlformats.org/officeDocument/2006/relationships/oleObject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3.png" Type="http://schemas.openxmlformats.org/officeDocument/2006/relationships/image"/><Relationship Id="rId4" Target="../embeddings/oleObject3.bin" Type="http://schemas.openxmlformats.org/officeDocument/2006/relationships/oleObject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4.png" Type="http://schemas.openxmlformats.org/officeDocument/2006/relationships/image"/><Relationship Id="rId4" Target="../embeddings/oleObject4.bin" Type="http://schemas.openxmlformats.org/officeDocument/2006/relationships/oleObject"/><Relationship Id="rId5" Target="../media/image11.png" Type="http://schemas.openxmlformats.org/officeDocument/2006/relationships/image"/><Relationship Id="rId6" Target="../media/image12.sv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4.png" Type="http://schemas.openxmlformats.org/officeDocument/2006/relationships/image"/><Relationship Id="rId5" Target="../media/image11.png" Type="http://schemas.openxmlformats.org/officeDocument/2006/relationships/image"/><Relationship Id="rId6" Target="../media/image1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87364" y="3773488"/>
            <a:ext cx="12913272" cy="2635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PRÉVISION DU TAUX ZÉRO-COUPON US À 1 AN À PARTIR DE VARIABLES MACRO-FINANCIÈRES.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1130300" y="4057750"/>
            <a:ext cx="3086100" cy="2171499"/>
            <a:chOff x="0" y="0"/>
            <a:chExt cx="812800" cy="571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511526" y="2055061"/>
            <a:ext cx="13264947" cy="88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4"/>
              </a:lnSpc>
            </a:pPr>
            <a:r>
              <a:rPr lang="en-US" b="true" sz="5103">
                <a:solidFill>
                  <a:srgbClr val="303642"/>
                </a:solidFill>
                <a:latin typeface="Roboto Bold"/>
                <a:ea typeface="Roboto Bold"/>
                <a:cs typeface="Roboto Bold"/>
                <a:sym typeface="Roboto Bold"/>
              </a:rPr>
              <a:t>PROJET DATA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6467343" y="4057750"/>
            <a:ext cx="3086100" cy="2171499"/>
            <a:chOff x="0" y="0"/>
            <a:chExt cx="812800" cy="571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571917"/>
            </a:xfrm>
            <a:custGeom>
              <a:avLst/>
              <a:gdLst/>
              <a:ahLst/>
              <a:cxnLst/>
              <a:rect r="r" b="b" t="t" l="l"/>
              <a:pathLst>
                <a:path h="571917" w="812800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12750" y="8829291"/>
            <a:ext cx="8526827" cy="1181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Jean-Baptiste ATTIE</a:t>
            </a:r>
          </a:p>
          <a:p>
            <a:pPr algn="l">
              <a:lnSpc>
                <a:spcPts val="3107"/>
              </a:lnSpc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Vincent KARAKOSEIAN</a:t>
            </a:r>
          </a:p>
          <a:p>
            <a:pPr algn="l">
              <a:lnSpc>
                <a:spcPts val="3107"/>
              </a:lnSpc>
              <a:spcBef>
                <a:spcPct val="0"/>
              </a:spcBef>
            </a:pPr>
            <a:r>
              <a:rPr lang="en-US" sz="22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Yahya KALI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5895401" cy="10287000"/>
            <a:chOff x="0" y="0"/>
            <a:chExt cx="15526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526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552698">
                  <a:moveTo>
                    <a:pt x="0" y="0"/>
                  </a:moveTo>
                  <a:lnTo>
                    <a:pt x="1552698" y="0"/>
                  </a:lnTo>
                  <a:lnTo>
                    <a:pt x="15526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552698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-10800000">
            <a:off x="6764499" y="7360510"/>
            <a:ext cx="1197727" cy="986363"/>
            <a:chOff x="0" y="0"/>
            <a:chExt cx="647700" cy="533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7700" cy="533400"/>
            </a:xfrm>
            <a:custGeom>
              <a:avLst/>
              <a:gdLst/>
              <a:ahLst/>
              <a:cxnLst/>
              <a:rect r="r" b="b" t="t" l="l"/>
              <a:pathLst>
                <a:path h="533400" w="647700">
                  <a:moveTo>
                    <a:pt x="239386" y="166418"/>
                  </a:moveTo>
                  <a:lnTo>
                    <a:pt x="647700" y="166418"/>
                  </a:lnTo>
                  <a:lnTo>
                    <a:pt x="647700" y="366942"/>
                  </a:lnTo>
                  <a:lnTo>
                    <a:pt x="239373" y="366942"/>
                  </a:lnTo>
                  <a:lnTo>
                    <a:pt x="302255" y="533400"/>
                  </a:lnTo>
                  <a:lnTo>
                    <a:pt x="0" y="266700"/>
                  </a:lnTo>
                  <a:lnTo>
                    <a:pt x="302255" y="0"/>
                  </a:lnTo>
                  <a:lnTo>
                    <a:pt x="239386" y="166418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20650" y="117475"/>
              <a:ext cx="527050" cy="250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18814" y="2957222"/>
            <a:ext cx="4857773" cy="6528106"/>
            <a:chOff x="0" y="0"/>
            <a:chExt cx="6477030" cy="8704141"/>
          </a:xfrm>
        </p:grpSpPr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0" y="0"/>
              <a:ext cx="6477030" cy="8704141"/>
              <a:chOff x="0" y="0"/>
              <a:chExt cx="3663950" cy="492379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31750" y="31750"/>
                <a:ext cx="3600450" cy="4859020"/>
              </a:xfrm>
              <a:custGeom>
                <a:avLst/>
                <a:gdLst/>
                <a:ahLst/>
                <a:cxnLst/>
                <a:rect r="r" b="b" t="t" l="l"/>
                <a:pathLst>
                  <a:path h="4859020" w="3600450">
                    <a:moveTo>
                      <a:pt x="3600450" y="4499610"/>
                    </a:moveTo>
                    <a:cubicBezTo>
                      <a:pt x="3600450" y="4699000"/>
                      <a:pt x="3439160" y="4859020"/>
                      <a:pt x="3241040" y="4859020"/>
                    </a:cubicBezTo>
                    <a:lnTo>
                      <a:pt x="359410" y="4859020"/>
                    </a:lnTo>
                    <a:cubicBezTo>
                      <a:pt x="160020" y="4859020"/>
                      <a:pt x="0" y="4697730"/>
                      <a:pt x="0" y="4499610"/>
                    </a:cubicBezTo>
                    <a:lnTo>
                      <a:pt x="0" y="359410"/>
                    </a:lnTo>
                    <a:cubicBezTo>
                      <a:pt x="0" y="160020"/>
                      <a:pt x="161290" y="0"/>
                      <a:pt x="359410" y="0"/>
                    </a:cubicBezTo>
                    <a:lnTo>
                      <a:pt x="3239770" y="0"/>
                    </a:lnTo>
                    <a:cubicBezTo>
                      <a:pt x="3439160" y="0"/>
                      <a:pt x="3599180" y="161290"/>
                      <a:pt x="3599180" y="359410"/>
                    </a:cubicBezTo>
                    <a:lnTo>
                      <a:pt x="3600450" y="449961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9970" t="0" r="-39970" b="0"/>
                </a:stretch>
              </a:blip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3662687" cy="4923790"/>
              </a:xfrm>
              <a:custGeom>
                <a:avLst/>
                <a:gdLst/>
                <a:ahLst/>
                <a:cxnLst/>
                <a:rect r="r" b="b" t="t" l="l"/>
                <a:pathLst>
                  <a:path h="4923790" w="3662687">
                    <a:moveTo>
                      <a:pt x="3271520" y="4923790"/>
                    </a:moveTo>
                    <a:lnTo>
                      <a:pt x="391160" y="4923790"/>
                    </a:lnTo>
                    <a:cubicBezTo>
                      <a:pt x="175260" y="4923790"/>
                      <a:pt x="0" y="4748530"/>
                      <a:pt x="0" y="4532630"/>
                    </a:cubicBezTo>
                    <a:lnTo>
                      <a:pt x="0" y="392430"/>
                    </a:lnTo>
                    <a:cubicBezTo>
                      <a:pt x="0" y="175260"/>
                      <a:pt x="175260" y="0"/>
                      <a:pt x="391160" y="0"/>
                    </a:cubicBezTo>
                    <a:lnTo>
                      <a:pt x="3271520" y="0"/>
                    </a:lnTo>
                    <a:cubicBezTo>
                      <a:pt x="3487420" y="0"/>
                      <a:pt x="3662680" y="175260"/>
                      <a:pt x="3662680" y="391160"/>
                    </a:cubicBezTo>
                    <a:lnTo>
                      <a:pt x="3662680" y="4531360"/>
                    </a:lnTo>
                    <a:cubicBezTo>
                      <a:pt x="3663950" y="4747260"/>
                      <a:pt x="3487420" y="4923790"/>
                      <a:pt x="3271520" y="4923790"/>
                    </a:cubicBezTo>
                    <a:close/>
                    <a:moveTo>
                      <a:pt x="391160" y="63500"/>
                    </a:moveTo>
                    <a:cubicBezTo>
                      <a:pt x="210820" y="63500"/>
                      <a:pt x="63500" y="210820"/>
                      <a:pt x="63500" y="391160"/>
                    </a:cubicBezTo>
                    <a:lnTo>
                      <a:pt x="63500" y="4531360"/>
                    </a:lnTo>
                    <a:cubicBezTo>
                      <a:pt x="63500" y="4712970"/>
                      <a:pt x="210820" y="4859020"/>
                      <a:pt x="391160" y="4859020"/>
                    </a:cubicBezTo>
                    <a:lnTo>
                      <a:pt x="3271520" y="4859020"/>
                    </a:lnTo>
                    <a:cubicBezTo>
                      <a:pt x="3453130" y="4859020"/>
                      <a:pt x="3599180" y="4711700"/>
                      <a:pt x="3599180" y="4531360"/>
                    </a:cubicBezTo>
                    <a:lnTo>
                      <a:pt x="3599180" y="391160"/>
                    </a:lnTo>
                    <a:cubicBezTo>
                      <a:pt x="3599180" y="209550"/>
                      <a:pt x="3451860" y="63500"/>
                      <a:pt x="3271520" y="63500"/>
                    </a:cubicBezTo>
                    <a:lnTo>
                      <a:pt x="391160" y="6350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sp>
          <p:nvSpPr>
            <p:cNvPr name="Freeform 16" id="16"/>
            <p:cNvSpPr/>
            <p:nvPr/>
          </p:nvSpPr>
          <p:spPr>
            <a:xfrm flipH="false" flipV="false" rot="0">
              <a:off x="609763" y="2854665"/>
              <a:ext cx="5257503" cy="2994812"/>
            </a:xfrm>
            <a:custGeom>
              <a:avLst/>
              <a:gdLst/>
              <a:ahLst/>
              <a:cxnLst/>
              <a:rect r="r" b="b" t="t" l="l"/>
              <a:pathLst>
                <a:path h="2994812" w="5257503">
                  <a:moveTo>
                    <a:pt x="0" y="0"/>
                  </a:moveTo>
                  <a:lnTo>
                    <a:pt x="5257504" y="0"/>
                  </a:lnTo>
                  <a:lnTo>
                    <a:pt x="5257504" y="2994811"/>
                  </a:lnTo>
                  <a:lnTo>
                    <a:pt x="0" y="29948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234" r="-18579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343985" y="1347952"/>
            <a:ext cx="11171691" cy="5873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QuantiData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développe des outils quantitatifs d’aide à la décision sur les marchés de taux.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Intérêt business →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Les banques d’investissemnt utilisent des modèles de taux stochastiques complexes (Hull–White 1F/2F - Libor Market Model) souvent lourds à calibrer et sensibles aux hypothèses paramétriques.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Problématique →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Peut-on construire un modèle capable d’anticiper les variations du taux zéro-coupon américain à 1 an à partir de variables macro-financières, y compris en période de stress ?</a:t>
            </a:r>
          </a:p>
          <a:p>
            <a:pPr algn="l">
              <a:lnSpc>
                <a:spcPts val="335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09411" y="1662134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QUANTIDATA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09411" y="942975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CHEZ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393576" y="7398396"/>
            <a:ext cx="886572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roduire un signal d’aide au pricing de produits de taux et à leur couverture.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302073" y="2490929"/>
          <a:ext cx="6583680" cy="8229600"/>
        </p:xfrm>
        <a:graphic>
          <a:graphicData uri="http://schemas.openxmlformats.org/presentationml/2006/ole">
            <p:oleObj imgW="8229600" imgH="9867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5765807" y="923925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DATASET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49984" y="4782985"/>
            <a:ext cx="2818309" cy="44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Taille | 4784 lignes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65101" y="3779685"/>
            <a:ext cx="4805603" cy="45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Variable explicative </a:t>
            </a:r>
            <a:r>
              <a:rPr lang="en-US" b="true" sz="2500">
                <a:solidFill>
                  <a:srgbClr val="004AAD"/>
                </a:solidFill>
                <a:latin typeface="Poppins Bold"/>
                <a:ea typeface="Poppins Bold"/>
                <a:cs typeface="Poppins Bold"/>
                <a:sym typeface="Poppins Bold"/>
              </a:rPr>
              <a:t>ZC_1Y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49984" y="5776976"/>
            <a:ext cx="3205659" cy="442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2"/>
              </a:lnSpc>
              <a:spcBef>
                <a:spcPct val="0"/>
              </a:spcBef>
            </a:pPr>
            <a:r>
              <a:rPr lang="en-US" sz="2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Période </a:t>
            </a:r>
            <a:r>
              <a:rPr lang="en-US" sz="245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| 2003–2022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545499" y="6770968"/>
            <a:ext cx="7048791" cy="1299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NaN: suppression des lignes incomplètes.</a:t>
            </a:r>
          </a:p>
          <a:p>
            <a:pPr algn="l">
              <a:lnSpc>
                <a:spcPts val="3426"/>
              </a:lnSpc>
              <a:spcBef>
                <a:spcPct val="0"/>
              </a:spcBef>
            </a:pPr>
          </a:p>
          <a:p>
            <a:pPr algn="l">
              <a:lnSpc>
                <a:spcPts val="3426"/>
              </a:lnSpc>
              <a:spcBef>
                <a:spcPct val="0"/>
              </a:spcBef>
            </a:pPr>
            <a:r>
              <a:rPr lang="en-US" sz="244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Alignement en daily par forwardfill</a:t>
            </a:r>
          </a:p>
        </p:txBody>
      </p:sp>
      <p:grpSp>
        <p:nvGrpSpPr>
          <p:cNvPr name="Group 9" id="9"/>
          <p:cNvGrpSpPr/>
          <p:nvPr/>
        </p:nvGrpSpPr>
        <p:grpSpPr>
          <a:xfrm rot="5400000">
            <a:off x="7230927" y="5924333"/>
            <a:ext cx="3904247" cy="78101"/>
            <a:chOff x="0" y="0"/>
            <a:chExt cx="1028279" cy="2057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8279" cy="20570"/>
            </a:xfrm>
            <a:custGeom>
              <a:avLst/>
              <a:gdLst/>
              <a:ahLst/>
              <a:cxnLst/>
              <a:rect r="r" b="b" t="t" l="l"/>
              <a:pathLst>
                <a:path h="20570" w="1028279">
                  <a:moveTo>
                    <a:pt x="0" y="0"/>
                  </a:moveTo>
                  <a:lnTo>
                    <a:pt x="1028279" y="0"/>
                  </a:lnTo>
                  <a:lnTo>
                    <a:pt x="1028279" y="20570"/>
                  </a:lnTo>
                  <a:lnTo>
                    <a:pt x="0" y="2057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028279" cy="68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348315" y="1691524"/>
            <a:ext cx="10655317" cy="3755999"/>
          </a:xfrm>
          <a:custGeom>
            <a:avLst/>
            <a:gdLst/>
            <a:ahLst/>
            <a:cxnLst/>
            <a:rect r="r" b="b" t="t" l="l"/>
            <a:pathLst>
              <a:path h="3755999" w="10655317">
                <a:moveTo>
                  <a:pt x="0" y="0"/>
                </a:moveTo>
                <a:lnTo>
                  <a:pt x="10655316" y="0"/>
                </a:lnTo>
                <a:lnTo>
                  <a:pt x="10655316" y="3755999"/>
                </a:lnTo>
                <a:lnTo>
                  <a:pt x="0" y="375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79537" y="7684590"/>
            <a:ext cx="3045059" cy="1089392"/>
            <a:chOff x="0" y="0"/>
            <a:chExt cx="1135965" cy="40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35965" cy="406400"/>
            </a:xfrm>
            <a:custGeom>
              <a:avLst/>
              <a:gdLst/>
              <a:ahLst/>
              <a:cxnLst/>
              <a:rect r="r" b="b" t="t" l="l"/>
              <a:pathLst>
                <a:path h="406400" w="1135965">
                  <a:moveTo>
                    <a:pt x="0" y="0"/>
                  </a:moveTo>
                  <a:lnTo>
                    <a:pt x="932765" y="0"/>
                  </a:lnTo>
                  <a:lnTo>
                    <a:pt x="1135965" y="203200"/>
                  </a:lnTo>
                  <a:lnTo>
                    <a:pt x="932765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77800" y="-57150"/>
              <a:ext cx="881965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Comportement de la cible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79537" y="8863151"/>
            <a:ext cx="3045059" cy="1151668"/>
            <a:chOff x="0" y="0"/>
            <a:chExt cx="1074539" cy="406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4538" cy="406400"/>
            </a:xfrm>
            <a:custGeom>
              <a:avLst/>
              <a:gdLst/>
              <a:ahLst/>
              <a:cxnLst/>
              <a:rect r="r" b="b" t="t" l="l"/>
              <a:pathLst>
                <a:path h="406400" w="1074538">
                  <a:moveTo>
                    <a:pt x="0" y="0"/>
                  </a:moveTo>
                  <a:lnTo>
                    <a:pt x="871338" y="0"/>
                  </a:lnTo>
                  <a:lnTo>
                    <a:pt x="1074538" y="203200"/>
                  </a:lnTo>
                  <a:lnTo>
                    <a:pt x="871338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77800" y="-57150"/>
              <a:ext cx="820539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Corrélations et  stationnarité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93712" y="1539021"/>
            <a:ext cx="6389377" cy="5635248"/>
          </a:xfrm>
          <a:custGeom>
            <a:avLst/>
            <a:gdLst/>
            <a:ahLst/>
            <a:cxnLst/>
            <a:rect r="r" b="b" t="t" l="l"/>
            <a:pathLst>
              <a:path h="5635248" w="6389377">
                <a:moveTo>
                  <a:pt x="0" y="0"/>
                </a:moveTo>
                <a:lnTo>
                  <a:pt x="6389377" y="0"/>
                </a:lnTo>
                <a:lnTo>
                  <a:pt x="6389377" y="5635248"/>
                </a:lnTo>
                <a:lnTo>
                  <a:pt x="0" y="56352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702067" y="335240"/>
            <a:ext cx="4337326" cy="693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6"/>
              </a:lnSpc>
            </a:pPr>
            <a:r>
              <a:rPr lang="en-US" sz="4054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EXPLORATOIRE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84180"/>
            <a:ext cx="4071124" cy="74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63"/>
              </a:lnSpc>
            </a:pPr>
            <a:r>
              <a:rPr lang="en-US" sz="433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ANALYSE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329348" y="7918767"/>
            <a:ext cx="5224331" cy="398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Crises 2008 et Covid (2021-2022)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29348" y="9201150"/>
            <a:ext cx="5547078" cy="79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Présence d</a:t>
            </a:r>
            <a:r>
              <a:rPr lang="en-US" sz="22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non-stationnarité et de multicolinéarité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805096" y="7723948"/>
            <a:ext cx="5026297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Adapter 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périodes de tests fonction des crises</a:t>
            </a:r>
          </a:p>
          <a:p>
            <a:pPr algn="l">
              <a:lnSpc>
                <a:spcPts val="3359"/>
              </a:lnSpc>
            </a:pP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Différencier les variables</a:t>
            </a:r>
          </a:p>
        </p:txBody>
      </p:sp>
      <p:grpSp>
        <p:nvGrpSpPr>
          <p:cNvPr name="Group 16" id="16"/>
          <p:cNvGrpSpPr/>
          <p:nvPr/>
        </p:nvGrpSpPr>
        <p:grpSpPr>
          <a:xfrm rot="5400000">
            <a:off x="9937035" y="8570070"/>
            <a:ext cx="2803274" cy="56548"/>
            <a:chOff x="0" y="0"/>
            <a:chExt cx="738311" cy="1489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8311" cy="14893"/>
            </a:xfrm>
            <a:custGeom>
              <a:avLst/>
              <a:gdLst/>
              <a:ahLst/>
              <a:cxnLst/>
              <a:rect r="r" b="b" t="t" l="l"/>
              <a:pathLst>
                <a:path h="14893" w="738311">
                  <a:moveTo>
                    <a:pt x="0" y="0"/>
                  </a:moveTo>
                  <a:lnTo>
                    <a:pt x="738311" y="0"/>
                  </a:lnTo>
                  <a:lnTo>
                    <a:pt x="738311" y="14893"/>
                  </a:lnTo>
                  <a:lnTo>
                    <a:pt x="0" y="1489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38311" cy="625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4020064"/>
          <a:ext cx="16230600" cy="7005306"/>
        </p:xfrm>
        <a:graphic>
          <a:graphicData uri="http://schemas.openxmlformats.org/presentationml/2006/ole">
            <p:oleObj imgW="19469100" imgH="1024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997794" y="4882989"/>
            <a:ext cx="1896755" cy="517297"/>
          </a:xfrm>
          <a:custGeom>
            <a:avLst/>
            <a:gdLst/>
            <a:ahLst/>
            <a:cxnLst/>
            <a:rect r="r" b="b" t="t" l="l"/>
            <a:pathLst>
              <a:path h="517297" w="1896755">
                <a:moveTo>
                  <a:pt x="0" y="0"/>
                </a:moveTo>
                <a:lnTo>
                  <a:pt x="1896754" y="0"/>
                </a:lnTo>
                <a:lnTo>
                  <a:pt x="1896754" y="517297"/>
                </a:lnTo>
                <a:lnTo>
                  <a:pt x="0" y="51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7794" y="5860364"/>
            <a:ext cx="1896755" cy="517297"/>
          </a:xfrm>
          <a:custGeom>
            <a:avLst/>
            <a:gdLst/>
            <a:ahLst/>
            <a:cxnLst/>
            <a:rect r="r" b="b" t="t" l="l"/>
            <a:pathLst>
              <a:path h="517297" w="1896755">
                <a:moveTo>
                  <a:pt x="0" y="0"/>
                </a:moveTo>
                <a:lnTo>
                  <a:pt x="1896754" y="0"/>
                </a:lnTo>
                <a:lnTo>
                  <a:pt x="1896754" y="517297"/>
                </a:lnTo>
                <a:lnTo>
                  <a:pt x="0" y="51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65807" y="923925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ARIMA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293219"/>
            <a:ext cx="16230600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Modèle de série temporelle appliqué à ZC_1Y, fondé uniquement sur la dynamique passée du taux.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4895893"/>
            <a:ext cx="863262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performanc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très faibles, quasi aucun pouvoir explicatif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873267"/>
            <a:ext cx="552678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 capte pas les ruptures de régime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27234" y="7785735"/>
            <a:ext cx="11934629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seule dynamique autorégressive ne suffit pas. </a:t>
            </a:r>
          </a:p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Sans variables externes, ARIMA n’extrait presque aucun signal utile.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7109" y="3017517"/>
            <a:ext cx="1403511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Modèle détecté: </a:t>
            </a: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ARIMA(2, 2, 1) - pas de saisonnalité - autocorrélation résiduelle (Ljung-Box).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4010539"/>
          <a:ext cx="16230600" cy="7005306"/>
        </p:xfrm>
        <a:graphic>
          <a:graphicData uri="http://schemas.openxmlformats.org/presentationml/2006/ole">
            <p:oleObj imgW="19469100" imgH="1024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997794" y="4873464"/>
            <a:ext cx="1896755" cy="517297"/>
          </a:xfrm>
          <a:custGeom>
            <a:avLst/>
            <a:gdLst/>
            <a:ahLst/>
            <a:cxnLst/>
            <a:rect r="r" b="b" t="t" l="l"/>
            <a:pathLst>
              <a:path h="517297" w="1896755">
                <a:moveTo>
                  <a:pt x="0" y="0"/>
                </a:moveTo>
                <a:lnTo>
                  <a:pt x="1896754" y="0"/>
                </a:lnTo>
                <a:lnTo>
                  <a:pt x="1896754" y="517297"/>
                </a:lnTo>
                <a:lnTo>
                  <a:pt x="0" y="51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7794" y="5850839"/>
            <a:ext cx="1896755" cy="517297"/>
          </a:xfrm>
          <a:custGeom>
            <a:avLst/>
            <a:gdLst/>
            <a:ahLst/>
            <a:cxnLst/>
            <a:rect r="r" b="b" t="t" l="l"/>
            <a:pathLst>
              <a:path h="517297" w="1896755">
                <a:moveTo>
                  <a:pt x="0" y="0"/>
                </a:moveTo>
                <a:lnTo>
                  <a:pt x="1896754" y="0"/>
                </a:lnTo>
                <a:lnTo>
                  <a:pt x="1896754" y="517297"/>
                </a:lnTo>
                <a:lnTo>
                  <a:pt x="0" y="51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765807" y="923925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10628" y="2453717"/>
            <a:ext cx="1346674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Régression linéaire sur ZC_1Y après différenciation des séries non stationnaires.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29216" y="4897755"/>
            <a:ext cx="6149975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petit pouvoir prédictif en prériode calme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5943321"/>
            <a:ext cx="6400999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les performances se dégradent fortement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6825" y="7604760"/>
            <a:ext cx="13654351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l’OLS fournit une base simple d’interprétation, mais manque clairement de robustesse face aux ruptures de régime.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0628" y="8803005"/>
            <a:ext cx="13654351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Modèle plus stable 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Object 3" id="3"/>
          <p:cNvGraphicFramePr/>
          <p:nvPr/>
        </p:nvGraphicFramePr>
        <p:xfrm>
          <a:off x="1028700" y="3440449"/>
          <a:ext cx="16230600" cy="7005306"/>
        </p:xfrm>
        <a:graphic>
          <a:graphicData uri="http://schemas.openxmlformats.org/presentationml/2006/ole">
            <p:oleObj imgW="19469100" imgH="10248900" r:id="rId4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6997794" y="4303374"/>
            <a:ext cx="1896755" cy="517297"/>
          </a:xfrm>
          <a:custGeom>
            <a:avLst/>
            <a:gdLst/>
            <a:ahLst/>
            <a:cxnLst/>
            <a:rect r="r" b="b" t="t" l="l"/>
            <a:pathLst>
              <a:path h="517297" w="1896755">
                <a:moveTo>
                  <a:pt x="0" y="0"/>
                </a:moveTo>
                <a:lnTo>
                  <a:pt x="1896754" y="0"/>
                </a:lnTo>
                <a:lnTo>
                  <a:pt x="1896754" y="517297"/>
                </a:lnTo>
                <a:lnTo>
                  <a:pt x="0" y="51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7794" y="5280749"/>
            <a:ext cx="1896755" cy="517297"/>
          </a:xfrm>
          <a:custGeom>
            <a:avLst/>
            <a:gdLst/>
            <a:ahLst/>
            <a:cxnLst/>
            <a:rect r="r" b="b" t="t" l="l"/>
            <a:pathLst>
              <a:path h="517297" w="1896755">
                <a:moveTo>
                  <a:pt x="0" y="0"/>
                </a:moveTo>
                <a:lnTo>
                  <a:pt x="1896754" y="0"/>
                </a:lnTo>
                <a:lnTo>
                  <a:pt x="1896754" y="517297"/>
                </a:lnTo>
                <a:lnTo>
                  <a:pt x="0" y="5172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1136" y="6512262"/>
            <a:ext cx="11871605" cy="3338889"/>
          </a:xfrm>
          <a:custGeom>
            <a:avLst/>
            <a:gdLst/>
            <a:ahLst/>
            <a:cxnLst/>
            <a:rect r="r" b="b" t="t" l="l"/>
            <a:pathLst>
              <a:path h="3338889" w="11871605">
                <a:moveTo>
                  <a:pt x="0" y="0"/>
                </a:moveTo>
                <a:lnTo>
                  <a:pt x="11871605" y="0"/>
                </a:lnTo>
                <a:lnTo>
                  <a:pt x="11871605" y="3338889"/>
                </a:lnTo>
                <a:lnTo>
                  <a:pt x="0" y="33388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29719" y="1800839"/>
            <a:ext cx="5255101" cy="1079815"/>
          </a:xfrm>
          <a:custGeom>
            <a:avLst/>
            <a:gdLst/>
            <a:ahLst/>
            <a:cxnLst/>
            <a:rect r="r" b="b" t="t" l="l"/>
            <a:pathLst>
              <a:path h="1079815" w="5255101">
                <a:moveTo>
                  <a:pt x="0" y="0"/>
                </a:moveTo>
                <a:lnTo>
                  <a:pt x="5255101" y="0"/>
                </a:lnTo>
                <a:lnTo>
                  <a:pt x="5255101" y="1079815"/>
                </a:lnTo>
                <a:lnTo>
                  <a:pt x="0" y="107981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9683" t="-78696" r="-14096" b="-5924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59464" y="492683"/>
            <a:ext cx="6756386" cy="967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sz="567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LASSO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756386" y="2036739"/>
            <a:ext cx="10502914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Modèle de régression Lasso avec standardisation des variables et sélection automatique des coefficients par régularisation L1.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71173" y="4236699"/>
            <a:ext cx="8599408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eilleur modèle testé : Plus faible RMSE et plus grands R2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01150" y="5214074"/>
            <a:ext cx="8627615" cy="843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 performances baissent mais restent robustes malgrès le Covid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42079" y="7307312"/>
            <a:ext cx="5286686" cy="1682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Gère mieux la multicolinéarité </a:t>
            </a:r>
          </a:p>
          <a:p>
            <a:pPr algn="l">
              <a:lnSpc>
                <a:spcPts val="3360"/>
              </a:lnSpc>
            </a:pPr>
          </a:p>
          <a:p>
            <a:pPr algn="l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Conserve un signal prédictif même en période de stress.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13657" y="4695673"/>
            <a:ext cx="11301259" cy="5226832"/>
          </a:xfrm>
          <a:custGeom>
            <a:avLst/>
            <a:gdLst/>
            <a:ahLst/>
            <a:cxnLst/>
            <a:rect r="r" b="b" t="t" l="l"/>
            <a:pathLst>
              <a:path h="5226832" w="11301259">
                <a:moveTo>
                  <a:pt x="0" y="0"/>
                </a:moveTo>
                <a:lnTo>
                  <a:pt x="11301259" y="0"/>
                </a:lnTo>
                <a:lnTo>
                  <a:pt x="11301259" y="5226832"/>
                </a:lnTo>
                <a:lnTo>
                  <a:pt x="0" y="522683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809382" y="422833"/>
            <a:ext cx="6109808" cy="4082281"/>
          </a:xfrm>
          <a:custGeom>
            <a:avLst/>
            <a:gdLst/>
            <a:ahLst/>
            <a:cxnLst/>
            <a:rect r="r" b="b" t="t" l="l"/>
            <a:pathLst>
              <a:path h="4082281" w="6109808">
                <a:moveTo>
                  <a:pt x="0" y="0"/>
                </a:moveTo>
                <a:lnTo>
                  <a:pt x="6109809" y="0"/>
                </a:lnTo>
                <a:lnTo>
                  <a:pt x="6109809" y="4082280"/>
                </a:lnTo>
                <a:lnTo>
                  <a:pt x="0" y="4082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015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1955128"/>
            <a:ext cx="5634574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 RÉSULTATS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143000"/>
            <a:ext cx="6295068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COMPARAISON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2220" y="4864943"/>
            <a:ext cx="5651842" cy="1263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L'OLS s'effondre en stress : sans régularisation, les coefficients divergent face aux chocs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22220" y="6630141"/>
            <a:ext cx="5029622" cy="1291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0"/>
              </a:lnSpc>
              <a:spcBef>
                <a:spcPct val="0"/>
              </a:spcBef>
            </a:pPr>
            <a:r>
              <a:rPr lang="en-US" sz="241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Le Lasso est le meilleur modèle sur les deux périodes — seul à garder un R² positif en stress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698626" y="1851145"/>
            <a:ext cx="8773698" cy="827775"/>
            <a:chOff x="0" y="0"/>
            <a:chExt cx="11698264" cy="11037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107859" y="0"/>
              <a:ext cx="4993521" cy="1103700"/>
              <a:chOff x="0" y="0"/>
              <a:chExt cx="1781309" cy="393716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781309" cy="393716"/>
              </a:xfrm>
              <a:custGeom>
                <a:avLst/>
                <a:gdLst/>
                <a:ahLst/>
                <a:cxnLst/>
                <a:rect r="r" b="b" t="t" l="l"/>
                <a:pathLst>
                  <a:path h="393716" w="1781309">
                    <a:moveTo>
                      <a:pt x="105578" y="0"/>
                    </a:moveTo>
                    <a:lnTo>
                      <a:pt x="1675730" y="0"/>
                    </a:lnTo>
                    <a:cubicBezTo>
                      <a:pt x="1734040" y="0"/>
                      <a:pt x="1781309" y="47269"/>
                      <a:pt x="1781309" y="105578"/>
                    </a:cubicBezTo>
                    <a:lnTo>
                      <a:pt x="1781309" y="288138"/>
                    </a:lnTo>
                    <a:cubicBezTo>
                      <a:pt x="1781309" y="316139"/>
                      <a:pt x="1770185" y="342993"/>
                      <a:pt x="1750386" y="362793"/>
                    </a:cubicBezTo>
                    <a:cubicBezTo>
                      <a:pt x="1730586" y="382593"/>
                      <a:pt x="1703731" y="393716"/>
                      <a:pt x="1675730" y="393716"/>
                    </a:cubicBezTo>
                    <a:lnTo>
                      <a:pt x="105578" y="393716"/>
                    </a:lnTo>
                    <a:cubicBezTo>
                      <a:pt x="77577" y="393716"/>
                      <a:pt x="50723" y="382593"/>
                      <a:pt x="30923" y="362793"/>
                    </a:cubicBezTo>
                    <a:cubicBezTo>
                      <a:pt x="11123" y="342993"/>
                      <a:pt x="0" y="316139"/>
                      <a:pt x="0" y="288138"/>
                    </a:cubicBezTo>
                    <a:lnTo>
                      <a:pt x="0" y="105578"/>
                    </a:lnTo>
                    <a:cubicBezTo>
                      <a:pt x="0" y="77577"/>
                      <a:pt x="11123" y="50723"/>
                      <a:pt x="30923" y="30923"/>
                    </a:cubicBezTo>
                    <a:cubicBezTo>
                      <a:pt x="50723" y="11123"/>
                      <a:pt x="77577" y="0"/>
                      <a:pt x="105578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47625"/>
                <a:ext cx="1781309" cy="441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260431"/>
              <a:ext cx="5209239" cy="557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5"/>
                </a:lnSpc>
              </a:pPr>
              <a:r>
                <a:rPr lang="en-US" b="true" sz="241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</a:t>
              </a:r>
              <a:r>
                <a:rPr lang="en-US" b="true" sz="241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rectional Accuracy</a:t>
              </a:r>
            </a:p>
          </p:txBody>
        </p:sp>
        <p:grpSp>
          <p:nvGrpSpPr>
            <p:cNvPr name="Group 8" id="8"/>
            <p:cNvGrpSpPr/>
            <p:nvPr/>
          </p:nvGrpSpPr>
          <p:grpSpPr>
            <a:xfrm rot="0">
              <a:off x="6596884" y="0"/>
              <a:ext cx="4993521" cy="1103700"/>
              <a:chOff x="0" y="0"/>
              <a:chExt cx="1781309" cy="393716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781309" cy="393716"/>
              </a:xfrm>
              <a:custGeom>
                <a:avLst/>
                <a:gdLst/>
                <a:ahLst/>
                <a:cxnLst/>
                <a:rect r="r" b="b" t="t" l="l"/>
                <a:pathLst>
                  <a:path h="393716" w="1781309">
                    <a:moveTo>
                      <a:pt x="105578" y="0"/>
                    </a:moveTo>
                    <a:lnTo>
                      <a:pt x="1675730" y="0"/>
                    </a:lnTo>
                    <a:cubicBezTo>
                      <a:pt x="1734040" y="0"/>
                      <a:pt x="1781309" y="47269"/>
                      <a:pt x="1781309" y="105578"/>
                    </a:cubicBezTo>
                    <a:lnTo>
                      <a:pt x="1781309" y="288138"/>
                    </a:lnTo>
                    <a:cubicBezTo>
                      <a:pt x="1781309" y="316139"/>
                      <a:pt x="1770185" y="342993"/>
                      <a:pt x="1750386" y="362793"/>
                    </a:cubicBezTo>
                    <a:cubicBezTo>
                      <a:pt x="1730586" y="382593"/>
                      <a:pt x="1703731" y="393716"/>
                      <a:pt x="1675730" y="393716"/>
                    </a:cubicBezTo>
                    <a:lnTo>
                      <a:pt x="105578" y="393716"/>
                    </a:lnTo>
                    <a:cubicBezTo>
                      <a:pt x="77577" y="393716"/>
                      <a:pt x="50723" y="382593"/>
                      <a:pt x="30923" y="362793"/>
                    </a:cubicBezTo>
                    <a:cubicBezTo>
                      <a:pt x="11123" y="342993"/>
                      <a:pt x="0" y="316139"/>
                      <a:pt x="0" y="288138"/>
                    </a:cubicBezTo>
                    <a:lnTo>
                      <a:pt x="0" y="105578"/>
                    </a:lnTo>
                    <a:cubicBezTo>
                      <a:pt x="0" y="77577"/>
                      <a:pt x="11123" y="50723"/>
                      <a:pt x="30923" y="30923"/>
                    </a:cubicBezTo>
                    <a:cubicBezTo>
                      <a:pt x="50723" y="11123"/>
                      <a:pt x="77577" y="0"/>
                      <a:pt x="105578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47625"/>
                <a:ext cx="1781309" cy="4413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6489026" y="260431"/>
              <a:ext cx="5209239" cy="5571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85"/>
                </a:lnSpc>
              </a:pPr>
              <a:r>
                <a:rPr lang="en-US" b="true" sz="241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P</a:t>
              </a:r>
              <a:r>
                <a:rPr lang="en-US" b="true" sz="2418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nL simplifié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939122" y="3408911"/>
            <a:ext cx="834314" cy="521446"/>
          </a:xfrm>
          <a:custGeom>
            <a:avLst/>
            <a:gdLst/>
            <a:ahLst/>
            <a:cxnLst/>
            <a:rect r="r" b="b" t="t" l="l"/>
            <a:pathLst>
              <a:path h="521446" w="834314">
                <a:moveTo>
                  <a:pt x="0" y="0"/>
                </a:moveTo>
                <a:lnTo>
                  <a:pt x="834314" y="0"/>
                </a:lnTo>
                <a:lnTo>
                  <a:pt x="834314" y="521446"/>
                </a:lnTo>
                <a:lnTo>
                  <a:pt x="0" y="521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29102" y="3408911"/>
            <a:ext cx="834314" cy="521446"/>
          </a:xfrm>
          <a:custGeom>
            <a:avLst/>
            <a:gdLst/>
            <a:ahLst/>
            <a:cxnLst/>
            <a:rect r="r" b="b" t="t" l="l"/>
            <a:pathLst>
              <a:path h="521446" w="834314">
                <a:moveTo>
                  <a:pt x="0" y="0"/>
                </a:moveTo>
                <a:lnTo>
                  <a:pt x="834314" y="0"/>
                </a:lnTo>
                <a:lnTo>
                  <a:pt x="834314" y="521446"/>
                </a:lnTo>
                <a:lnTo>
                  <a:pt x="0" y="5214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01051" y="2837191"/>
            <a:ext cx="510455" cy="510455"/>
          </a:xfrm>
          <a:custGeom>
            <a:avLst/>
            <a:gdLst/>
            <a:ahLst/>
            <a:cxnLst/>
            <a:rect r="r" b="b" t="t" l="l"/>
            <a:pathLst>
              <a:path h="510455" w="510455">
                <a:moveTo>
                  <a:pt x="0" y="0"/>
                </a:moveTo>
                <a:lnTo>
                  <a:pt x="510456" y="0"/>
                </a:lnTo>
                <a:lnTo>
                  <a:pt x="510456" y="510455"/>
                </a:lnTo>
                <a:lnTo>
                  <a:pt x="0" y="510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991031" y="2837191"/>
            <a:ext cx="510455" cy="510455"/>
          </a:xfrm>
          <a:custGeom>
            <a:avLst/>
            <a:gdLst/>
            <a:ahLst/>
            <a:cxnLst/>
            <a:rect r="r" b="b" t="t" l="l"/>
            <a:pathLst>
              <a:path h="510455" w="510455">
                <a:moveTo>
                  <a:pt x="0" y="0"/>
                </a:moveTo>
                <a:lnTo>
                  <a:pt x="510455" y="0"/>
                </a:lnTo>
                <a:lnTo>
                  <a:pt x="510455" y="510455"/>
                </a:lnTo>
                <a:lnTo>
                  <a:pt x="0" y="510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28394" y="4739982"/>
            <a:ext cx="16655770" cy="5116779"/>
          </a:xfrm>
          <a:custGeom>
            <a:avLst/>
            <a:gdLst/>
            <a:ahLst/>
            <a:cxnLst/>
            <a:rect r="r" b="b" t="t" l="l"/>
            <a:pathLst>
              <a:path h="5116779" w="16655770">
                <a:moveTo>
                  <a:pt x="0" y="0"/>
                </a:moveTo>
                <a:lnTo>
                  <a:pt x="16655770" y="0"/>
                </a:lnTo>
                <a:lnTo>
                  <a:pt x="16655770" y="5116779"/>
                </a:lnTo>
                <a:lnTo>
                  <a:pt x="0" y="5116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9857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1342299"/>
            <a:ext cx="5898349" cy="912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b="true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BUSINESS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530172"/>
            <a:ext cx="7385050" cy="897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MÉTRIQUES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73585" y="2846674"/>
            <a:ext cx="616843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69%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73436" y="3423889"/>
            <a:ext cx="52238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61%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663411" y="2846674"/>
            <a:ext cx="545207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5.18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663416" y="3423889"/>
            <a:ext cx="432792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5322918" y="2837149"/>
            <a:ext cx="31700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199093" y="3414364"/>
            <a:ext cx="317004" cy="424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pt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3189624" y="5143500"/>
            <a:ext cx="9077075" cy="955055"/>
            <a:chOff x="0" y="0"/>
            <a:chExt cx="12102767" cy="1273407"/>
          </a:xfrm>
        </p:grpSpPr>
        <p:sp>
          <p:nvSpPr>
            <p:cNvPr name="TextBox 26" id="26"/>
            <p:cNvSpPr txBox="true"/>
            <p:nvPr/>
          </p:nvSpPr>
          <p:spPr>
            <a:xfrm rot="0">
              <a:off x="0" y="-47625"/>
              <a:ext cx="913342" cy="1321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9"/>
                </a:lnSpc>
              </a:pPr>
              <a:r>
                <a:rPr lang="en-US" sz="13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67%</a:t>
              </a:r>
            </a:p>
            <a:p>
              <a:pPr algn="l">
                <a:lnSpc>
                  <a:spcPts val="1959"/>
                </a:lnSpc>
              </a:pPr>
              <a:r>
                <a:rPr lang="en-US" sz="13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69%</a:t>
              </a:r>
            </a:p>
            <a:p>
              <a:pPr algn="l">
                <a:lnSpc>
                  <a:spcPts val="1959"/>
                </a:lnSpc>
              </a:pPr>
              <a:r>
                <a:rPr lang="en-US" sz="13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54%</a:t>
              </a:r>
            </a:p>
            <a:p>
              <a:pPr algn="l">
                <a:lnSpc>
                  <a:spcPts val="1959"/>
                </a:lnSpc>
                <a:spcBef>
                  <a:spcPct val="0"/>
                </a:spcBef>
              </a:pPr>
              <a:r>
                <a:rPr lang="en-US" sz="13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49%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1168564" y="-47625"/>
              <a:ext cx="934202" cy="1321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64"/>
                </a:lnSpc>
              </a:pPr>
              <a:r>
                <a:rPr lang="en-US" sz="140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59%</a:t>
              </a:r>
            </a:p>
            <a:p>
              <a:pPr algn="l">
                <a:lnSpc>
                  <a:spcPts val="1964"/>
                </a:lnSpc>
              </a:pPr>
              <a:r>
                <a:rPr lang="en-US" sz="140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62%</a:t>
              </a:r>
            </a:p>
            <a:p>
              <a:pPr algn="l">
                <a:lnSpc>
                  <a:spcPts val="1964"/>
                </a:lnSpc>
              </a:pPr>
              <a:r>
                <a:rPr lang="en-US" sz="140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50%</a:t>
              </a:r>
            </a:p>
            <a:p>
              <a:pPr algn="l">
                <a:lnSpc>
                  <a:spcPts val="1964"/>
                </a:lnSpc>
                <a:spcBef>
                  <a:spcPct val="0"/>
                </a:spcBef>
              </a:pPr>
              <a:r>
                <a:rPr lang="en-US" sz="1403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 47%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4952790" cy="10287000"/>
            <a:chOff x="0" y="0"/>
            <a:chExt cx="130443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04439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04439">
                  <a:moveTo>
                    <a:pt x="0" y="0"/>
                  </a:moveTo>
                  <a:lnTo>
                    <a:pt x="1304439" y="0"/>
                  </a:lnTo>
                  <a:lnTo>
                    <a:pt x="130443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04439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123847" y="9370828"/>
            <a:ext cx="897167" cy="2183545"/>
            <a:chOff x="0" y="0"/>
            <a:chExt cx="236291" cy="575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49851" y="3943585"/>
            <a:ext cx="3954850" cy="5314715"/>
            <a:chOff x="0" y="0"/>
            <a:chExt cx="5273133" cy="7086287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5273133" cy="7086287"/>
              <a:chOff x="0" y="0"/>
              <a:chExt cx="3663950" cy="492379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31750" y="31750"/>
                <a:ext cx="3600450" cy="4859020"/>
              </a:xfrm>
              <a:custGeom>
                <a:avLst/>
                <a:gdLst/>
                <a:ahLst/>
                <a:cxnLst/>
                <a:rect r="r" b="b" t="t" l="l"/>
                <a:pathLst>
                  <a:path h="4859020" w="3600450">
                    <a:moveTo>
                      <a:pt x="3600450" y="4499610"/>
                    </a:moveTo>
                    <a:cubicBezTo>
                      <a:pt x="3600450" y="4699000"/>
                      <a:pt x="3439160" y="4859020"/>
                      <a:pt x="3241040" y="4859020"/>
                    </a:cubicBezTo>
                    <a:lnTo>
                      <a:pt x="359410" y="4859020"/>
                    </a:lnTo>
                    <a:cubicBezTo>
                      <a:pt x="160020" y="4859020"/>
                      <a:pt x="0" y="4697730"/>
                      <a:pt x="0" y="4499610"/>
                    </a:cubicBezTo>
                    <a:lnTo>
                      <a:pt x="0" y="359410"/>
                    </a:lnTo>
                    <a:cubicBezTo>
                      <a:pt x="0" y="160020"/>
                      <a:pt x="161290" y="0"/>
                      <a:pt x="359410" y="0"/>
                    </a:cubicBezTo>
                    <a:lnTo>
                      <a:pt x="3239770" y="0"/>
                    </a:lnTo>
                    <a:cubicBezTo>
                      <a:pt x="3439160" y="0"/>
                      <a:pt x="3599180" y="161290"/>
                      <a:pt x="3599180" y="359410"/>
                    </a:cubicBezTo>
                    <a:lnTo>
                      <a:pt x="3600450" y="449961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-39970" t="0" r="-39970" b="0"/>
                </a:stretch>
              </a:blip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3662687" cy="4923790"/>
              </a:xfrm>
              <a:custGeom>
                <a:avLst/>
                <a:gdLst/>
                <a:ahLst/>
                <a:cxnLst/>
                <a:rect r="r" b="b" t="t" l="l"/>
                <a:pathLst>
                  <a:path h="4923790" w="3662687">
                    <a:moveTo>
                      <a:pt x="3271520" y="4923790"/>
                    </a:moveTo>
                    <a:lnTo>
                      <a:pt x="391160" y="4923790"/>
                    </a:lnTo>
                    <a:cubicBezTo>
                      <a:pt x="175260" y="4923790"/>
                      <a:pt x="0" y="4748530"/>
                      <a:pt x="0" y="4532630"/>
                    </a:cubicBezTo>
                    <a:lnTo>
                      <a:pt x="0" y="392430"/>
                    </a:lnTo>
                    <a:cubicBezTo>
                      <a:pt x="0" y="175260"/>
                      <a:pt x="175260" y="0"/>
                      <a:pt x="391160" y="0"/>
                    </a:cubicBezTo>
                    <a:lnTo>
                      <a:pt x="3271520" y="0"/>
                    </a:lnTo>
                    <a:cubicBezTo>
                      <a:pt x="3487420" y="0"/>
                      <a:pt x="3662680" y="175260"/>
                      <a:pt x="3662680" y="391160"/>
                    </a:cubicBezTo>
                    <a:lnTo>
                      <a:pt x="3662680" y="4531360"/>
                    </a:lnTo>
                    <a:cubicBezTo>
                      <a:pt x="3663950" y="4747260"/>
                      <a:pt x="3487420" y="4923790"/>
                      <a:pt x="3271520" y="4923790"/>
                    </a:cubicBezTo>
                    <a:close/>
                    <a:moveTo>
                      <a:pt x="391160" y="63500"/>
                    </a:moveTo>
                    <a:cubicBezTo>
                      <a:pt x="210820" y="63500"/>
                      <a:pt x="63500" y="210820"/>
                      <a:pt x="63500" y="391160"/>
                    </a:cubicBezTo>
                    <a:lnTo>
                      <a:pt x="63500" y="4531360"/>
                    </a:lnTo>
                    <a:cubicBezTo>
                      <a:pt x="63500" y="4712970"/>
                      <a:pt x="210820" y="4859020"/>
                      <a:pt x="391160" y="4859020"/>
                    </a:cubicBezTo>
                    <a:lnTo>
                      <a:pt x="3271520" y="4859020"/>
                    </a:lnTo>
                    <a:cubicBezTo>
                      <a:pt x="3453130" y="4859020"/>
                      <a:pt x="3599180" y="4711700"/>
                      <a:pt x="3599180" y="4531360"/>
                    </a:cubicBezTo>
                    <a:lnTo>
                      <a:pt x="3599180" y="391160"/>
                    </a:lnTo>
                    <a:cubicBezTo>
                      <a:pt x="3599180" y="209550"/>
                      <a:pt x="3451860" y="63500"/>
                      <a:pt x="3271520" y="63500"/>
                    </a:cubicBezTo>
                    <a:lnTo>
                      <a:pt x="391160" y="63500"/>
                    </a:lnTo>
                    <a:close/>
                  </a:path>
                </a:pathLst>
              </a:custGeom>
              <a:solidFill>
                <a:srgbClr val="004AAD"/>
              </a:solidFill>
            </p:spPr>
          </p:sp>
        </p:grpSp>
        <p:sp>
          <p:nvSpPr>
            <p:cNvPr name="Freeform 13" id="13"/>
            <p:cNvSpPr/>
            <p:nvPr/>
          </p:nvSpPr>
          <p:spPr>
            <a:xfrm flipH="false" flipV="false" rot="0">
              <a:off x="212856" y="2324063"/>
              <a:ext cx="4280282" cy="2438161"/>
            </a:xfrm>
            <a:custGeom>
              <a:avLst/>
              <a:gdLst/>
              <a:ahLst/>
              <a:cxnLst/>
              <a:rect r="r" b="b" t="t" l="l"/>
              <a:pathLst>
                <a:path h="2438161" w="4280282">
                  <a:moveTo>
                    <a:pt x="0" y="0"/>
                  </a:moveTo>
                  <a:lnTo>
                    <a:pt x="4280283" y="0"/>
                  </a:lnTo>
                  <a:lnTo>
                    <a:pt x="4280283" y="2438161"/>
                  </a:lnTo>
                  <a:lnTo>
                    <a:pt x="0" y="243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234" r="-18579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05587" y="1595767"/>
            <a:ext cx="4243380" cy="794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1"/>
              </a:lnSpc>
            </a:pPr>
            <a:r>
              <a:rPr lang="en-US" sz="4708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QUANTIDATA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05587" y="876608"/>
            <a:ext cx="4842085" cy="770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2"/>
              </a:lnSpc>
            </a:pPr>
            <a:r>
              <a:rPr lang="en-US" sz="455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CHEZ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297864" y="3468506"/>
            <a:ext cx="11070822" cy="1667058"/>
            <a:chOff x="0" y="0"/>
            <a:chExt cx="14761095" cy="22227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95594" cy="571526"/>
            </a:xfrm>
            <a:custGeom>
              <a:avLst/>
              <a:gdLst/>
              <a:ahLst/>
              <a:cxnLst/>
              <a:rect r="r" b="b" t="t" l="l"/>
              <a:pathLst>
                <a:path h="571526" w="2095594">
                  <a:moveTo>
                    <a:pt x="0" y="0"/>
                  </a:moveTo>
                  <a:lnTo>
                    <a:pt x="2095594" y="0"/>
                  </a:lnTo>
                  <a:lnTo>
                    <a:pt x="2095594" y="571526"/>
                  </a:lnTo>
                  <a:lnTo>
                    <a:pt x="0" y="57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825692"/>
              <a:ext cx="2095594" cy="571526"/>
            </a:xfrm>
            <a:custGeom>
              <a:avLst/>
              <a:gdLst/>
              <a:ahLst/>
              <a:cxnLst/>
              <a:rect r="r" b="b" t="t" l="l"/>
              <a:pathLst>
                <a:path h="571526" w="2095594">
                  <a:moveTo>
                    <a:pt x="0" y="0"/>
                  </a:moveTo>
                  <a:lnTo>
                    <a:pt x="2095594" y="0"/>
                  </a:lnTo>
                  <a:lnTo>
                    <a:pt x="2095594" y="571526"/>
                  </a:lnTo>
                  <a:lnTo>
                    <a:pt x="0" y="57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651218"/>
              <a:ext cx="2095594" cy="571526"/>
            </a:xfrm>
            <a:custGeom>
              <a:avLst/>
              <a:gdLst/>
              <a:ahLst/>
              <a:cxnLst/>
              <a:rect r="r" b="b" t="t" l="l"/>
              <a:pathLst>
                <a:path h="571526" w="2095594">
                  <a:moveTo>
                    <a:pt x="0" y="0"/>
                  </a:moveTo>
                  <a:lnTo>
                    <a:pt x="2095594" y="0"/>
                  </a:lnTo>
                  <a:lnTo>
                    <a:pt x="2095594" y="571525"/>
                  </a:lnTo>
                  <a:lnTo>
                    <a:pt x="0" y="571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2413902" y="-65441"/>
              <a:ext cx="7062920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anticipe le bon sens de marché 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458616" y="746317"/>
              <a:ext cx="590073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 robuste en cas de crise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146394" y="1634521"/>
              <a:ext cx="12614701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est </a:t>
              </a: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profitable dans notre cadre de simulation simplifié.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46818" y="2129790"/>
            <a:ext cx="1638864" cy="60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  <a:spcBef>
                <a:spcPct val="0"/>
              </a:spcBef>
            </a:pPr>
            <a:r>
              <a:rPr lang="en-US" b="true" sz="350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NOTRE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297864" y="7484695"/>
            <a:ext cx="11707968" cy="1667058"/>
            <a:chOff x="0" y="0"/>
            <a:chExt cx="15610624" cy="222274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95594" cy="571526"/>
            </a:xfrm>
            <a:custGeom>
              <a:avLst/>
              <a:gdLst/>
              <a:ahLst/>
              <a:cxnLst/>
              <a:rect r="r" b="b" t="t" l="l"/>
              <a:pathLst>
                <a:path h="571526" w="2095594">
                  <a:moveTo>
                    <a:pt x="0" y="0"/>
                  </a:moveTo>
                  <a:lnTo>
                    <a:pt x="2095594" y="0"/>
                  </a:lnTo>
                  <a:lnTo>
                    <a:pt x="2095594" y="571526"/>
                  </a:lnTo>
                  <a:lnTo>
                    <a:pt x="0" y="57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825692"/>
              <a:ext cx="2095594" cy="571526"/>
            </a:xfrm>
            <a:custGeom>
              <a:avLst/>
              <a:gdLst/>
              <a:ahLst/>
              <a:cxnLst/>
              <a:rect r="r" b="b" t="t" l="l"/>
              <a:pathLst>
                <a:path h="571526" w="2095594">
                  <a:moveTo>
                    <a:pt x="0" y="0"/>
                  </a:moveTo>
                  <a:lnTo>
                    <a:pt x="2095594" y="0"/>
                  </a:lnTo>
                  <a:lnTo>
                    <a:pt x="2095594" y="571526"/>
                  </a:lnTo>
                  <a:lnTo>
                    <a:pt x="0" y="571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1651218"/>
              <a:ext cx="2095594" cy="571526"/>
            </a:xfrm>
            <a:custGeom>
              <a:avLst/>
              <a:gdLst/>
              <a:ahLst/>
              <a:cxnLst/>
              <a:rect r="r" b="b" t="t" l="l"/>
              <a:pathLst>
                <a:path h="571526" w="2095594">
                  <a:moveTo>
                    <a:pt x="0" y="0"/>
                  </a:moveTo>
                  <a:lnTo>
                    <a:pt x="2095594" y="0"/>
                  </a:lnTo>
                  <a:lnTo>
                    <a:pt x="2095594" y="571525"/>
                  </a:lnTo>
                  <a:lnTo>
                    <a:pt x="0" y="571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 rot="0">
              <a:off x="2331616" y="1584543"/>
              <a:ext cx="7792098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intégrer des lags dans le dataset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458616" y="746317"/>
              <a:ext cx="13152007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étendre le datatset en supprimant les variables non-hourly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095594" y="-16697"/>
              <a:ext cx="12614701" cy="5882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39"/>
                </a:lnSpc>
                <a:spcBef>
                  <a:spcPct val="0"/>
                </a:spcBef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74% des variations quotidiennes restent inexpliquées 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7028543" y="2179530"/>
            <a:ext cx="2550336" cy="59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  <a:spcBef>
                <a:spcPct val="0"/>
              </a:spcBef>
            </a:pPr>
            <a:r>
              <a:rPr lang="en-US" sz="350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MODÈLE...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446818" y="6062988"/>
            <a:ext cx="2856893" cy="60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  <a:spcBef>
                <a:spcPct val="0"/>
              </a:spcBef>
            </a:pPr>
            <a:r>
              <a:rPr lang="en-US" b="true" sz="3502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LIMITES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32161" y="6112728"/>
            <a:ext cx="6378520" cy="59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4"/>
              </a:lnSpc>
              <a:spcBef>
                <a:spcPct val="0"/>
              </a:spcBef>
            </a:pPr>
            <a:r>
              <a:rPr lang="en-US" sz="350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 PISTES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291153" y="763905"/>
            <a:ext cx="12714678" cy="746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i="true">
                <a:solidFill>
                  <a:srgbClr val="000000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Peut-on construire un modèle capable d’anticiper les variations du taux zéro-coupon américain à 1 an à partir de variables macro-financières, y compris en période de stress ?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35000" y="4477111"/>
            <a:ext cx="5245100" cy="1332778"/>
            <a:chOff x="0" y="0"/>
            <a:chExt cx="1381426" cy="3510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81426" cy="351020"/>
            </a:xfrm>
            <a:custGeom>
              <a:avLst/>
              <a:gdLst/>
              <a:ahLst/>
              <a:cxnLst/>
              <a:rect r="r" b="b" t="t" l="l"/>
              <a:pathLst>
                <a:path h="351020" w="1381426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04900" y="4477111"/>
            <a:ext cx="5118100" cy="1332778"/>
            <a:chOff x="0" y="0"/>
            <a:chExt cx="1347977" cy="3510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47977" cy="351020"/>
            </a:xfrm>
            <a:custGeom>
              <a:avLst/>
              <a:gdLst/>
              <a:ahLst/>
              <a:cxnLst/>
              <a:rect r="r" b="b" t="t" l="l"/>
              <a:pathLst>
                <a:path h="351020" w="1347977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996797" y="4544508"/>
            <a:ext cx="8421405" cy="126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b="true" sz="7382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DAHDpmcuCzM</dc:identifier>
  <dcterms:modified xsi:type="dcterms:W3CDTF">2011-08-01T06:04:30Z</dcterms:modified>
  <cp:revision>1</cp:revision>
  <dc:title>Projet DATA</dc:title>
</cp:coreProperties>
</file>